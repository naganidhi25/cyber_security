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81" y="0"/>
            <a:ext cx="8637072" cy="3326797"/>
          </a:xfrm>
        </p:spPr>
        <p:txBody>
          <a:bodyPr>
            <a:normAutofit/>
          </a:bodyPr>
          <a:lstStyle/>
          <a:p>
            <a:r>
              <a:rPr lang="en-IN" sz="5400" dirty="0"/>
              <a:t>Phishing Awareness Simulation Using Social Engineering Techniques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Understanding, Identifying, and Preventing Social Engineering Attacks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788" y="979714"/>
            <a:ext cx="9346424" cy="925811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What is Phishing?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504" y="2240644"/>
            <a:ext cx="9603275" cy="34162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🟣</a:t>
            </a:r>
            <a:r>
              <a:rPr lang="en-IN" sz="2400" b="1" dirty="0"/>
              <a:t>Definition</a:t>
            </a:r>
            <a:r>
              <a:rPr lang="en-IN" sz="2400" dirty="0"/>
              <a:t>: A cybercrime where targets are contacted by email, telephone, or                  text message by someone posing as a legitimate institution.
​🟣</a:t>
            </a:r>
            <a:r>
              <a:rPr lang="en-IN" sz="2400" b="1" dirty="0"/>
              <a:t>The Goal:</a:t>
            </a:r>
            <a:r>
              <a:rPr lang="en-IN" sz="2400" dirty="0"/>
              <a:t> To lure individuals into providing sensitive data such as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1.Personally Identifiable Information (PII)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2.​Banking and credit card details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3.Corporate login credentials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🟣</a:t>
            </a:r>
            <a:r>
              <a:rPr lang="en-IN" sz="2400" b="1" dirty="0"/>
              <a:t>Key Stat:</a:t>
            </a:r>
            <a:r>
              <a:rPr lang="en-IN" sz="2400" dirty="0"/>
              <a:t> Over 90% of successful data breaches start with a phishing email.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052286"/>
            <a:ext cx="9603275" cy="801468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</a:rPr>
              <a:t>How Phishing Works (The Cycle)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sz="2800" b="1" dirty="0"/>
              <a:t>The Research: </a:t>
            </a:r>
            <a:r>
              <a:rPr lang="en-IN" sz="2800" dirty="0"/>
              <a:t>Attackers gather info on targets (via LinkedIn, Social Media).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​</a:t>
            </a:r>
            <a:r>
              <a:rPr lang="en-IN" sz="2800" b="1" dirty="0"/>
              <a:t>The Hook: </a:t>
            </a:r>
            <a:r>
              <a:rPr lang="en-IN" sz="2800" dirty="0"/>
              <a:t>A deceptive message is sent (the “Lure”).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​</a:t>
            </a:r>
            <a:r>
              <a:rPr lang="en-IN" sz="2800" b="1" dirty="0"/>
              <a:t>The Exploit: </a:t>
            </a:r>
            <a:r>
              <a:rPr lang="en-IN" sz="2800" dirty="0"/>
              <a:t>User clicks a link or opens an attachment.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​</a:t>
            </a:r>
            <a:r>
              <a:rPr lang="en-IN" sz="2800" b="1" dirty="0"/>
              <a:t>The Catch: </a:t>
            </a:r>
            <a:r>
              <a:rPr lang="en-IN" sz="2800" dirty="0"/>
              <a:t>Data is stolen, or malware/ransomware is installed.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571" y="0"/>
            <a:ext cx="9125858" cy="6168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429" y="163286"/>
            <a:ext cx="9706428" cy="6005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accent3">
                    <a:lumMod val="50000"/>
                  </a:schemeClr>
                </a:solidFill>
              </a:rPr>
              <a:t>Types of Phishing</a:t>
            </a:r>
            <a:endParaRPr lang="en-US" sz="4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Spear Phishing Targeted at a specific individual or department.
Whaling High-level attacks targeting CEOs and Executives.</a:t>
            </a:r>
            <a:endParaRPr lang="en-IN" sz="2800" dirty="0"/>
          </a:p>
          <a:p>
            <a:r>
              <a:rPr lang="en-IN" sz="2800" dirty="0" err="1"/>
              <a:t>Smishing</a:t>
            </a:r>
            <a:r>
              <a:rPr lang="en-IN" sz="2800" dirty="0"/>
              <a:t> Phishing via SMS/Text messages.</a:t>
            </a:r>
            <a:endParaRPr lang="en-IN" sz="2800" dirty="0"/>
          </a:p>
          <a:p>
            <a:r>
              <a:rPr lang="en-IN" sz="2800" dirty="0" err="1"/>
              <a:t>Vishing</a:t>
            </a:r>
            <a:r>
              <a:rPr lang="en-IN" sz="2800" dirty="0"/>
              <a:t> Voice phishing (fake phone calls or automated IVR).</a:t>
            </a:r>
            <a:endParaRPr lang="en-IN" sz="2800" dirty="0"/>
          </a:p>
          <a:p>
            <a:r>
              <a:rPr lang="en-IN" sz="2800" dirty="0"/>
              <a:t>Angler Phishing Fake social media accounts “helping” customers.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856" y="181429"/>
            <a:ext cx="9452429" cy="5769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</a:rPr>
              <a:t>Anatomy of a Malicious Email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lstStyle/>
          <a:p>
            <a:r>
              <a:rPr lang="en-IN" dirty="0"/>
              <a:t>​</a:t>
            </a:r>
            <a:r>
              <a:rPr lang="en-IN" sz="2800" b="1" dirty="0"/>
              <a:t>Display Name Spoofing:</a:t>
            </a:r>
            <a:r>
              <a:rPr lang="en-IN" sz="2800" dirty="0"/>
              <a:t> The name says “IT Support,” but the email address is scammer@gmail.com.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The Sense of Urgency: </a:t>
            </a:r>
            <a:r>
              <a:rPr lang="en-IN" sz="2800" dirty="0"/>
              <a:t>“Action Required,” “Account Suspended,” or “Final Notice.”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The Hidden Link: </a:t>
            </a:r>
            <a:r>
              <a:rPr lang="en-IN" sz="2800" dirty="0"/>
              <a:t>Hovering over a button reveals a suspicious URL (e.g., wellsfarg0-secure.net).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Generic Salutation: </a:t>
            </a:r>
            <a:r>
              <a:rPr lang="en-IN" sz="2800" dirty="0"/>
              <a:t>Using “Dear Valued Member” instead of your actual name.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357" y="108856"/>
            <a:ext cx="10323285" cy="6023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052286"/>
            <a:ext cx="9603275" cy="424738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5">
                    <a:lumMod val="50000"/>
                  </a:schemeClr>
                </a:solidFill>
              </a:rPr>
              <a:t>The New Frontier of Phishing</a:t>
            </a:r>
            <a:endParaRPr lang="en-US" sz="4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362" y="2179017"/>
            <a:ext cx="9603275" cy="3450613"/>
          </a:xfrm>
        </p:spPr>
        <p:txBody>
          <a:bodyPr>
            <a:noAutofit/>
          </a:bodyPr>
          <a:lstStyle/>
          <a:p>
            <a:r>
              <a:rPr lang="en-IN" sz="2800" b="1" dirty="0" err="1"/>
              <a:t>Quishing</a:t>
            </a:r>
            <a:r>
              <a:rPr lang="en-IN" sz="2800" dirty="0"/>
              <a:t>: Mention why QR codes are the new </a:t>
            </a:r>
            <a:r>
              <a:rPr lang="en-IN" sz="2800" dirty="0" err="1"/>
              <a:t>favorite</a:t>
            </a:r>
            <a:r>
              <a:rPr lang="en-IN" sz="2800" dirty="0"/>
              <a:t> “blind spot” for security.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Trusted Services: </a:t>
            </a:r>
            <a:r>
              <a:rPr lang="en-IN" sz="2800" dirty="0"/>
              <a:t>Explain that even “Real” notifications from Google/Microsoft can lead to “Fake” places.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The Fix: </a:t>
            </a:r>
            <a:r>
              <a:rPr lang="en-IN" sz="2800" dirty="0"/>
              <a:t>Never log into an account via a link. Instead, go directly to the official website (e.g., type </a:t>
            </a:r>
            <a:r>
              <a:rPr lang="en-IN" sz="2800" dirty="0" err="1"/>
              <a:t>paypal.com</a:t>
            </a:r>
            <a:r>
              <a:rPr lang="en-IN" sz="2800" dirty="0"/>
              <a:t> yourself) to check for alerts.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>
                <a:solidFill>
                  <a:schemeClr val="accent2">
                    <a:lumMod val="75000"/>
                  </a:schemeClr>
                </a:solidFill>
              </a:rPr>
              <a:t>How to Protect Yourself (Best Practices)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​</a:t>
            </a:r>
            <a:r>
              <a:rPr lang="en-IN" sz="2400" b="1" dirty="0"/>
              <a:t>Check the Sender: </a:t>
            </a:r>
            <a:r>
              <a:rPr lang="en-IN" sz="2400" dirty="0"/>
              <a:t>Verify the email address, not just the name.</a:t>
            </a:r>
            <a:endParaRPr lang="en-IN" sz="2400" dirty="0"/>
          </a:p>
          <a:p>
            <a:r>
              <a:rPr lang="en-IN" sz="2400" dirty="0"/>
              <a:t>​</a:t>
            </a:r>
            <a:r>
              <a:rPr lang="en-IN" sz="2400" b="1" dirty="0"/>
              <a:t>Multi-Factor Authentication (MFA): </a:t>
            </a:r>
            <a:r>
              <a:rPr lang="en-IN" sz="2400" dirty="0"/>
              <a:t>The #1 </a:t>
            </a:r>
            <a:r>
              <a:rPr lang="en-IN" sz="2400" dirty="0" err="1"/>
              <a:t>defense</a:t>
            </a:r>
            <a:r>
              <a:rPr lang="en-IN" sz="2400" dirty="0"/>
              <a:t>. Even if they get your password, they can’t get in.</a:t>
            </a:r>
            <a:endParaRPr lang="en-IN" sz="2400" dirty="0"/>
          </a:p>
          <a:p>
            <a:r>
              <a:rPr lang="en-IN" sz="2400" b="1" dirty="0"/>
              <a:t>​Verify Offline:</a:t>
            </a:r>
            <a:r>
              <a:rPr lang="en-IN" sz="2400" dirty="0"/>
              <a:t> If a “boss” asks for a weird wire transfer, call them to confirm.</a:t>
            </a:r>
            <a:endParaRPr lang="en-IN" sz="2400" dirty="0"/>
          </a:p>
          <a:p>
            <a:r>
              <a:rPr lang="en-IN" sz="2400" b="1" dirty="0"/>
              <a:t>​Software Updates</a:t>
            </a:r>
            <a:r>
              <a:rPr lang="en-IN" sz="2400" dirty="0"/>
              <a:t>: Keep browsers and antivirus updated to catch known malicious sites.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746" y="229809"/>
            <a:ext cx="9462508" cy="5721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106714"/>
            <a:ext cx="9603275" cy="747040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C00000"/>
                </a:solidFill>
              </a:rPr>
              <a:t>Emergency Response Plan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2500"/>
          </a:bodyPr>
          <a:lstStyle/>
          <a:p>
            <a:r>
              <a:rPr lang="en-IN" dirty="0"/>
              <a:t>​</a:t>
            </a:r>
            <a:r>
              <a:rPr lang="en-IN" sz="2800" b="1" dirty="0"/>
              <a:t>Disconnect</a:t>
            </a:r>
            <a:r>
              <a:rPr lang="en-IN" sz="2800" dirty="0"/>
              <a:t>: If you downloaded a file, disconnect from the Wi-Fi/Internet immediately to stop data being sent back to the hacker.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Report</a:t>
            </a:r>
            <a:r>
              <a:rPr lang="en-IN" sz="2800" dirty="0"/>
              <a:t>: Notify your IT or Security department immediately (don’t be embarrassed—speed is key).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Reset</a:t>
            </a:r>
            <a:r>
              <a:rPr lang="en-IN" sz="2800" dirty="0"/>
              <a:t>: Change your passwords from a different device.</a:t>
            </a:r>
            <a:endParaRPr lang="en-IN" sz="2800" dirty="0"/>
          </a:p>
          <a:p>
            <a:r>
              <a:rPr lang="en-IN" sz="2800" dirty="0"/>
              <a:t>​</a:t>
            </a:r>
            <a:r>
              <a:rPr lang="en-IN" sz="2800" b="1" dirty="0"/>
              <a:t>Monitor</a:t>
            </a:r>
            <a:r>
              <a:rPr lang="en-IN" sz="2800" dirty="0"/>
              <a:t>: Check your bank and credit statements for unusual activity.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43" y="335640"/>
            <a:ext cx="11774714" cy="54700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185519"/>
            <a:ext cx="9603275" cy="1049235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2">
                    <a:lumMod val="25000"/>
                  </a:schemeClr>
                </a:solidFill>
              </a:rPr>
              <a:t>Conclusion</a:t>
            </a: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Phishing is a constantly evolving threat that relies on human error rather than technical glitches. By staying </a:t>
            </a:r>
            <a:r>
              <a:rPr lang="en-IN" sz="2800" dirty="0" err="1"/>
              <a:t>skeptical</a:t>
            </a:r>
            <a:r>
              <a:rPr lang="en-IN" sz="2800" dirty="0"/>
              <a:t> of urgent requests, double-checking links, and using tools like Multi-Factor Authentication, you can effectively shut the door on attackers. Ultimately, the best </a:t>
            </a:r>
            <a:r>
              <a:rPr lang="en-IN" sz="2800" dirty="0" err="1"/>
              <a:t>defense</a:t>
            </a:r>
            <a:r>
              <a:rPr lang="en-IN" sz="2800" dirty="0"/>
              <a:t> is simply to stop, look, and think before you click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1285" y="199573"/>
            <a:ext cx="662667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4400" b="1" dirty="0">
                <a:solidFill>
                  <a:schemeClr val="accent4">
                    <a:lumMod val="50000"/>
                  </a:schemeClr>
                </a:solidFill>
              </a:rPr>
              <a:t>Cybercriminals don't 'hack' in anymore; they simply log in using the keys we give them. Don't hand over your keys.</a:t>
            </a:r>
            <a:endParaRPr lang="en-IN" sz="4400" b="1" dirty="0">
              <a:solidFill>
                <a:schemeClr val="accent4">
                  <a:lumMod val="50000"/>
                </a:schemeClr>
              </a:solidFill>
            </a:endParaRPr>
          </a:p>
          <a:p>
            <a:pPr rtl="0">
              <a:buNone/>
            </a:pPr>
            <a:r>
              <a:rPr lang="en-IN" sz="4400" dirty="0">
                <a:solidFill>
                  <a:schemeClr val="accent4">
                    <a:lumMod val="50000"/>
                  </a:schemeClr>
                </a:solidFill>
              </a:rPr>
              <a:t>​</a:t>
            </a:r>
            <a:r>
              <a:rPr lang="en-IN" sz="4400" b="1" dirty="0">
                <a:solidFill>
                  <a:schemeClr val="accent4">
                    <a:lumMod val="50000"/>
                  </a:schemeClr>
                </a:solidFill>
              </a:rPr>
              <a:t>Stay Alert. Stay Informed. Stay Secure.</a:t>
            </a:r>
            <a:endParaRPr lang="en-IN" sz="4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1286" y="244839"/>
            <a:ext cx="5170714" cy="5418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WPS Presentation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Gill Sans MT</vt:lpstr>
      <vt:lpstr>Microsoft YaHei</vt:lpstr>
      <vt:lpstr>Arial Unicode MS</vt:lpstr>
      <vt:lpstr>Calibri</vt:lpstr>
      <vt:lpstr>Gallery</vt:lpstr>
      <vt:lpstr>Phishing Awareness Simulation Using Social Engineering Techniques</vt:lpstr>
      <vt:lpstr>What is Phishing?</vt:lpstr>
      <vt:lpstr>How Phishing Works (The Cycle)</vt:lpstr>
      <vt:lpstr>PowerPoint 演示文稿</vt:lpstr>
      <vt:lpstr>PowerPoint 演示文稿</vt:lpstr>
      <vt:lpstr>Types of Phishing</vt:lpstr>
      <vt:lpstr>PowerPoint 演示文稿</vt:lpstr>
      <vt:lpstr>Anatomy of a Malicious Email</vt:lpstr>
      <vt:lpstr>PowerPoint 演示文稿</vt:lpstr>
      <vt:lpstr>The New Frontier of Phishing</vt:lpstr>
      <vt:lpstr>How to Protect Yourself (Best Practices)</vt:lpstr>
      <vt:lpstr>PowerPoint 演示文稿</vt:lpstr>
      <vt:lpstr>Emergency Response Plan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Simulation Using Social Engineering Techniques</dc:title>
  <dc:creator>Nidhi H</dc:creator>
  <cp:lastModifiedBy>01fe23bec424</cp:lastModifiedBy>
  <cp:revision>2</cp:revision>
  <dcterms:created xsi:type="dcterms:W3CDTF">2026-04-15T10:53:00Z</dcterms:created>
  <dcterms:modified xsi:type="dcterms:W3CDTF">2026-04-15T09:32:16Z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5E150071511D4542AB354649738671EB_12</vt:lpwstr>
  </property>
  <property fmtid="{D5CDD505-2E9C-101B-9397-08002B2CF9AE}" pid="3" name="KSOProductBuildVer">
    <vt:lpwstr>1033-12.2.0.23196</vt:lpwstr>
  </property>
</Properties>
</file>